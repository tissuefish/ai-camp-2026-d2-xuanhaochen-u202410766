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0a13a4ea2084f94" Type="http://schemas.openxmlformats.org/officeDocument/2006/relationships/extended-properties" Target="docProps/app.xml"/><Relationship Id="R098bfba894e2479d" Type="http://schemas.openxmlformats.org/officeDocument/2006/relationships/officeDocument" Target="ppt/presentation.xml"/><Relationship Id="R65851e71e0db4407" Type="http://schemas.openxmlformats.org/officeDocument/2006/relationships/custom-properties" Target="docProps/custom.xml"/><Relationship Id="Rfedc41f63bbd4a6b" Type="http://schemas.openxmlformats.org/package/2006/relationships/metadata/core-properties" Target="docProps/core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b6e41e017be4c9a"/>
  </p:notesMasterIdLst>
  <p:sldIdLst>
    <p:sldId id="256" r:id="Rf8354318c9c74574"/>
    <p:sldId id="257" r:id="R57dc5e550f954a64"/>
    <p:sldId id="258" r:id="Rba0ee6944f0e495e"/>
    <p:sldId id="259" r:id="Rc074b649b6c447f7"/>
  </p:sldIdLst>
  <p:sldSz cx="12192000" cy="6858000"/>
  <p:notesSz cx="6858000" cy="9144000"/>
</p:presentation>
</file>

<file path=ppt/_rels/presentation.xml.rels><?xml version='1.0' encoding='UTF-8' standalone='yes'?>
<Relationships xmlns="http://schemas.openxmlformats.org/package/2006/relationships"><Relationship Id="R57dc5e550f954a64" Type="http://schemas.openxmlformats.org/officeDocument/2006/relationships/slide" Target="slides/slide2.xml"/><Relationship Id="Rba0ee6944f0e495e" Type="http://schemas.openxmlformats.org/officeDocument/2006/relationships/slide" Target="slides/slide3.xml"/><Relationship Id="Rbb6e41e017be4c9a" Type="http://schemas.openxmlformats.org/officeDocument/2006/relationships/notesMaster" Target="notesMasters/notesMaster1.xml"/><Relationship Id="Rc074b649b6c447f7" Type="http://schemas.openxmlformats.org/officeDocument/2006/relationships/slide" Target="slides/slide4.xml"/><Relationship Id="Rf8354318c9c74574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776bcb2bdf06442e" Type="http://schemas.openxmlformats.org/officeDocument/2006/relationships/theme" Target="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86615b4e46d4e1e" Type="http://schemas.openxmlformats.org/officeDocument/2006/relationships/slide" Target="../slides/slide1.xml"/><Relationship Id="R3a643b3f2eb44b05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b46c2d71fb04c34" Type="http://schemas.openxmlformats.org/officeDocument/2006/relationships/notesMaster" Target="../notesMasters/notesMaster1.xml"/><Relationship Id="R404e4e3675a5495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2e209912104471f" Type="http://schemas.openxmlformats.org/officeDocument/2006/relationships/slide" Target="../slides/slide3.xml"/><Relationship Id="R3e3738f8e2d74ff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ea70d56cfb8482e" Type="http://schemas.openxmlformats.org/officeDocument/2006/relationships/notesMaster" Target="../notesMasters/notesMaster1.xml"/><Relationship Id="R8d245a087b6a4cb9" Type="http://schemas.openxmlformats.org/officeDocument/2006/relationships/slide" Target="../slides/slide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们是好难起名组。今天要解决的问题是：为设施维护团队做一个混凝土裂缝的初步筛查器。他们的工作流程是先大量拍照、再人工复核，非常耗时。我们希望模型先筛出疑似裂缝的照片，让维护人员优先复核这些，从而减少无效的复核工作量。需要强调，这个筛查器只用来排序复核优先级，不能替代现场检查、工程师判断或结构安全结论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我们的真实数据来自 Kaggle 的 Surface Crack Detection 数据集，Positive 和 Negative 各两万张，用 --check-data 验证通过。先看最简单的多数类基线：把所有图都判为裂缝，准确率只有 0.5，而且误报了 150 张无裂缝图，几乎不可用。候选方法是我们自己实现的小型 CNN，两层卷积加池化再接全连接。我们保持了数据的划分、指标和训练流程都不变，只改了模型本身。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这是最重要的一条证据。在同样 900 训练、300 测试的划分下，CNN 训练 8 个 epoch 后准确率 0.943，漏检 14 张裂缝，误报只有 3 张，而基线误报了 150 张，误报率大幅下降。左边这个案例是一张被漏检的真实裂缝 04283.jpg，模型把它判成了无裂缝，而且它在 2 个 epoch 和 8 个 epoch 时都被漏检。这提醒我们，虽然误报大幅减少，但漏检还没清零，而漏检恰恰是筛查场景最需要警惕的。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最后是失败、限制与下一步。我们的 CNN 仍然漏检 14 张裂缝，比 2 个 epoch 的 43 张已经大幅改善，但没有清零。必须强调的是，这个模型只能用于安排人工复核的顺序，不能替代现场检查、工程师判断或结构安全结论。而且数据是由高分辨率照片切块生成的，随机拆分存在泄漏风险，数字可能偏乐观。下一步的最小检查是查看错误图像网格，归纳漏检样本的共性，比如亮度、裂缝粗细或对比度，再决定是否做针对性数据增强。谢谢大家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edba8ea63124930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35a1e0a25cb413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b8969c20ffe4c8f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48023f1a8d643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d4bf08e9eb543d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8bc315336deb4de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'1.0' encoding='UTF-8' standalone='yes'?>
<Relationships xmlns="http://schemas.openxmlformats.org/package/2006/relationships"><Relationship Id="R44a45034051e4ef9" Type="http://schemas.openxmlformats.org/officeDocument/2006/relationships/notesSlide" Target="../notesSlides/notesSlide1.xml"/><Relationship Id="Raefebeb3045e49b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73428f4bf784ab7" Type="http://schemas.openxmlformats.org/officeDocument/2006/relationships/notesSlide" Target="../notesSlides/notesSlide2.xml"/><Relationship Id="R7844c19829c34b0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ba6474a54994b41" Type="http://schemas.openxmlformats.org/officeDocument/2006/relationships/slideLayout" Target="../slideLayouts/slideLayout1.xml"/><Relationship Id="R83c9e05996514fc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3082804f6d3f4b95" Type="http://schemas.openxmlformats.org/officeDocument/2006/relationships/notesSlide" Target="../notesSlides/notesSlide4.xml"/><Relationship Id="R840776f45b3c4f3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/>
      <p:sp>
        <p:nvSpPr>
          <p:cNvPr id="100000" name="HeroNumber"/>
          <p:cNvSpPr/>
          <p:nvPr/>
        </p:nvSpPr>
        <p:spPr>
          <a:xfrm xmlns:a="http://schemas.openxmlformats.org/drawingml/2006/main">
            <a:off x="720000" y="1080000"/>
            <a:ext cx="1800000" cy="18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6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0001" name="CoverTitle"/>
          <p:cNvSpPr txBox="1"/>
          <p:nvPr/>
        </p:nvSpPr>
        <p:spPr>
          <a:xfrm xmlns:a="http://schemas.openxmlformats.org/drawingml/2006/main">
            <a:off x="2952000" y="1152000"/>
            <a:ext cx="846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问题与使用者</a:t>
            </a:r>
          </a:p>
        </p:txBody>
      </p:sp>
      <p:sp>
        <p:nvSpPr>
          <p:cNvPr id="100002" name="CoverBody"/>
          <p:cNvSpPr txBox="1"/>
          <p:nvPr/>
        </p:nvSpPr>
        <p:spPr>
          <a:xfrm xmlns:a="http://schemas.openxmlformats.org/drawingml/2006/main">
            <a:off x="2952000" y="2160000"/>
            <a:ext cx="79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2200" b="0">
                <a:solidFill>
                  <a:srgbClr val="D6F5EE"/>
                </a:solidFill>
                <a:latin typeface="Microsoft YaHei"/>
                <a:ea typeface="Microsoft YaHei"/>
              </a:rPr>
              <a:t>设施维护团队需先从大量混凝土照片中筛出疑似裂缝、再安排人工复核。输入：混凝土表面照片；输出：疑似裂缝 / 无裂缝；用于决定哪些照片优先复核。模型只排序复核优先级，不替代现场检查与工程判断。</a:t>
            </a:r>
          </a:p>
        </p:txBody>
      </p:sp>
      <p:sp>
        <p:nvSpPr>
          <p:cNvPr id="100003" name="CoverMeta"/>
          <p:cNvSpPr txBox="1"/>
          <p:nvPr/>
        </p:nvSpPr>
        <p:spPr>
          <a:xfrm xmlns:a="http://schemas.openxmlformats.org/drawingml/2006/main">
            <a:off x="2952000" y="4572000"/>
            <a:ext cx="72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600" b="1">
                <a:solidFill>
                  <a:srgbClr val="8DDDD0"/>
                </a:solidFill>
                <a:latin typeface="Microsoft YaHei"/>
                <a:ea typeface="Microsoft YaHei"/>
              </a:rPr>
              <a:t>每日 3 分钟答辩 · 第 1 页约 30 秒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/>
      <p:sp>
        <p:nvSpPr>
          <p:cNvPr id="100004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02 · 约 45 秒</a:t>
            </a:r>
          </a:p>
        </p:txBody>
      </p:sp>
      <p:sp>
        <p:nvSpPr>
          <p:cNvPr id="100005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方法与简单基线</a:t>
            </a:r>
          </a:p>
        </p:txBody>
      </p:sp>
      <p:sp>
        <p:nvSpPr>
          <p:cNvPr id="100006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Input"/>
          <p:cNvSpPr/>
          <p:nvPr/>
        </p:nvSpPr>
        <p:spPr>
          <a:xfrm xmlns:a="http://schemas.openxmlformats.org/drawingml/2006/main">
            <a:off x="540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真实输入</a:t>
            </a:r>
          </a:p>
          <a:p xmlns:a="http://schemas.openxmlformats.org/drawingml/2006/main">
            <a:pPr algn="ctr"/>
            <a:r>
              <a:rPr lang="zh-CN" sz="2200" b="1">
                <a:solidFill>
                  <a:srgbClr val="123A3A"/>
                </a:solidFill>
                <a:latin typeface="Microsoft YaHei"/>
                <a:ea typeface="Microsoft YaHei"/>
              </a:rPr>
              <a:t>来源：Kaggle Surface Crack Detection
Positive / Negative 各 20000 张（227×227 RGB）
python train.py --check-data 通过</a:t>
            </a:r>
          </a:p>
        </p:txBody>
      </p:sp>
      <p:sp>
        <p:nvSpPr>
          <p:cNvPr id="100008" name="Baseline"/>
          <p:cNvSpPr/>
          <p:nvPr/>
        </p:nvSpPr>
        <p:spPr>
          <a:xfrm xmlns:a="http://schemas.openxmlformats.org/drawingml/2006/main">
            <a:off x="4572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简单基线</a:t>
            </a:r>
          </a:p>
          <a:p xmlns:a="http://schemas.openxmlformats.org/drawingml/2006/main">
            <a:pPr algn="ctr"/>
            <a:r>
              <a:rPr lang="zh-CN" sz="2200" b="1">
                <a:solidFill>
                  <a:srgbClr val="173F5F"/>
                </a:solidFill>
                <a:latin typeface="Microsoft YaHei"/>
                <a:ea typeface="Microsoft YaHei"/>
              </a:rPr>
              <a:t>多数类：所有图判为裂缝
acc 0.50 ｜ recall 1.0
误报 150 / 300</a:t>
            </a:r>
          </a:p>
        </p:txBody>
      </p:sp>
      <p:sp>
        <p:nvSpPr>
          <p:cNvPr id="100009" name="Candidate"/>
          <p:cNvSpPr/>
          <p:nvPr/>
        </p:nvSpPr>
        <p:spPr>
          <a:xfrm xmlns:a="http://schemas.openxmlformats.org/drawingml/2006/main">
            <a:off x="8604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4C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候选方法</a:t>
            </a:r>
          </a:p>
          <a:p xmlns:a="http://schemas.openxmlformats.org/drawingml/2006/main">
            <a:pPr algn="ctr"/>
            <a:r>
              <a:rPr lang="zh-CN" sz="2200" b="1">
                <a:solidFill>
                  <a:srgbClr val="6B3E16"/>
                </a:solidFill>
                <a:latin typeface="Microsoft YaHei"/>
                <a:ea typeface="Microsoft YaHei"/>
              </a:rPr>
              <a:t>SmallCNN（2 卷积 + 2 池化 + 线性）
acc 0.943 ｜ recall 0.907
漏检 14 ｜ 误报 3</a:t>
            </a:r>
          </a:p>
        </p:txBody>
      </p:sp>
      <p:sp>
        <p:nvSpPr>
          <p:cNvPr id="100010" name="MethodPrompt"/>
          <p:cNvSpPr txBox="1"/>
          <p:nvPr/>
        </p:nvSpPr>
        <p:spPr>
          <a:xfrm xmlns:a="http://schemas.openxmlformats.org/drawingml/2006/main">
            <a:off x="1080000" y="4680000"/>
            <a:ext cx="1000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000" b="0">
                <a:solidFill>
                  <a:srgbClr val="39545B"/>
                </a:solidFill>
                <a:latin typeface="Microsoft YaHei"/>
                <a:ea typeface="Microsoft YaHei"/>
              </a:rPr>
              <a:t>不变条件：数据划分每类最多 600、75/25、seed 2026；指标与训练流程均未改动。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Kicker"/>
          <p:cNvSpPr txBox="1"/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1400" b="1">
                <a:solidFill>
                  <a:srgbClr val="028090"/>
                </a:solidFill>
                <a:latin typeface="Microsoft YaHei"/>
                <a:ea typeface="Microsoft YaHei"/>
              </a:rPr>
              <a:t>03 · 约 60 秒</a:t>
            </a:r>
          </a:p>
        </p:txBody>
      </p:sp>
      <p:sp>
        <p:nvSpPr>
          <p:cNvPr id="100012" name="Title"/>
          <p:cNvSpPr txBox="1"/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183B45"/>
                </a:solidFill>
                <a:latin typeface="Microsoft YaHei"/>
                <a:ea typeface="Microsoft YaHei"/>
              </a:rPr>
              <a:t>一条最重要的证据</a:t>
            </a:r>
          </a:p>
        </p:txBody>
      </p:sp>
      <p:sp>
        <p:nvSpPr>
          <p:cNvPr id="100013" name="PageMark"/>
          <p:cNvSpPr/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Metric"/>
          <p:cNvSpPr/>
          <p:nvPr/>
        </p:nvSpPr>
        <p:spPr>
          <a:xfrm xmlns:a="http://schemas.openxmlformats.org/drawingml/2006/main">
            <a:off x="540000" y="1800000"/>
            <a:ext cx="5292000" cy="22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主指标</a:t>
            </a:r>
          </a:p>
          <a:p xmlns:a="http://schemas.openxmlformats.org/drawingml/2006/main">
            <a:pPr algn="ctr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CNN 8ep：acc 0.943
漏检 14 ｜ 误报 3（基线误报 150）
900 训练 / 300 测试
train_loss 0.68 → 0.20</a:t>
            </a:r>
          </a:p>
        </p:txBody>
      </p:sp>
      <p:sp>
        <p:nvSpPr>
          <p:cNvPr id="100015" name="Case"/>
          <p:cNvSpPr/>
          <p:nvPr/>
        </p:nvSpPr>
        <p:spPr>
          <a:xfrm xmlns:a="http://schemas.openxmlformats.org/drawingml/2006/main">
            <a:off x="6156000" y="1800000"/>
            <a:ext cx="5436000" cy="22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200" b="1">
                <a:solidFill>
                  <a:srgbClr val="083B35"/>
                </a:solidFill>
                <a:latin typeface="Microsoft YaHei"/>
                <a:ea typeface="Microsoft YaHei"/>
              </a:rPr>
              <a:t>真实案例</a:t>
            </a:r>
          </a:p>
          <a:p xmlns:a="http://schemas.openxmlformats.org/drawingml/2006/main">
            <a:pPr algn="ctr"/>
            <a:r>
              <a:rPr lang="zh-CN" sz="2200" b="1">
                <a:solidFill>
                  <a:srgbClr val="083B35"/>
                </a:solidFill>
                <a:latin typeface="Microsoft YaHei"/>
                <a:ea typeface="Microsoft YaHei"/>
              </a:rPr>
              <a:t>漏检裂缝 data/raw/Positive/04283.jpg
true=crack，predicted=no_crack
在 2ep 与 8ep 中均被漏检</a:t>
            </a:r>
          </a:p>
        </p:txBody>
      </p:sp>
      <p:sp>
        <p:nvSpPr>
          <p:cNvPr id="100016" name="EvidencePrompt"/>
          <p:cNvSpPr txBox="1"/>
          <p:nvPr/>
        </p:nvSpPr>
        <p:spPr>
          <a:xfrm xmlns:a="http://schemas.openxmlformats.org/drawingml/2006/main">
            <a:off x="792000" y="4680000"/>
            <a:ext cx="1058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000" b="0">
                <a:solidFill>
                  <a:srgbClr val="39545B"/>
                </a:solidFill>
                <a:latin typeface="Microsoft YaHei"/>
                <a:ea typeface="Microsoft YaHei"/>
              </a:rPr>
              <a:t>由 python train.py --model cnn --epochs 8 生成；数字见 runs/cnn.json，可复现。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/>
      <p:sp>
        <p:nvSpPr>
          <p:cNvPr id="100017" name="EndTitle"/>
          <p:cNvSpPr txBox="1"/>
          <p:nvPr/>
        </p:nvSpPr>
        <p:spPr>
          <a:xfrm xmlns:a="http://schemas.openxmlformats.org/drawingml/2006/main">
            <a:off x="540000" y="504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l"/>
            <a:r>
              <a:rPr lang="zh-CN" sz="3800" b="1">
                <a:solidFill>
                  <a:srgbClr val="FFFFFF"/>
                </a:solidFill>
                <a:latin typeface="Microsoft YaHei"/>
                <a:ea typeface="Microsoft YaHei"/>
              </a:rPr>
              <a:t>失败、限制与下一问题</a:t>
            </a:r>
          </a:p>
        </p:txBody>
      </p:sp>
      <p:sp>
        <p:nvSpPr>
          <p:cNvPr id="100018" name="Failure"/>
          <p:cNvSpPr/>
          <p:nvPr/>
        </p:nvSpPr>
        <p:spPr>
          <a:xfrm xmlns:a="http://schemas.openxmlformats.org/drawingml/2006/main">
            <a:off x="540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4C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100" b="1">
                <a:solidFill>
                  <a:srgbClr val="6B3E16"/>
                </a:solidFill>
                <a:latin typeface="Microsoft YaHei"/>
                <a:ea typeface="Microsoft YaHei"/>
              </a:rPr>
              <a:t>一个真实失败</a:t>
            </a:r>
          </a:p>
          <a:p xmlns:a="http://schemas.openxmlformats.org/drawingml/2006/main">
            <a:pPr algn="ctr"/>
            <a:r>
              <a:rPr lang="zh-CN" sz="2100" b="1">
                <a:solidFill>
                  <a:srgbClr val="6B3E16"/>
                </a:solidFill>
                <a:latin typeface="Microsoft YaHei"/>
                <a:ea typeface="Microsoft YaHei"/>
              </a:rPr>
              <a:t>CNN 8ep 仍漏检 14 张裂缝
2ep 为 43 → 8ep 为 14，未清零
漏检是筛查场景最危险的错误</a:t>
            </a:r>
          </a:p>
        </p:txBody>
      </p:sp>
      <p:sp>
        <p:nvSpPr>
          <p:cNvPr id="100019" name="Limit"/>
          <p:cNvSpPr/>
          <p:nvPr/>
        </p:nvSpPr>
        <p:spPr>
          <a:xfrm xmlns:a="http://schemas.openxmlformats.org/drawingml/2006/main">
            <a:off x="4374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100" b="1">
                <a:solidFill>
                  <a:srgbClr val="123A3A"/>
                </a:solidFill>
                <a:latin typeface="Microsoft YaHei"/>
                <a:ea typeface="Microsoft YaHei"/>
              </a:rPr>
              <a:t>证据不支持什么</a:t>
            </a:r>
          </a:p>
          <a:p xmlns:a="http://schemas.openxmlformats.org/drawingml/2006/main">
            <a:pPr algn="ctr"/>
            <a:r>
              <a:rPr lang="zh-CN" sz="2100" b="1">
                <a:solidFill>
                  <a:srgbClr val="123A3A"/>
                </a:solidFill>
                <a:latin typeface="Microsoft YaHei"/>
                <a:ea typeface="Microsoft YaHei"/>
              </a:rPr>
              <a:t>不能替代现场检查 / 工程师判断 / 安全决策
切块数据存在泄漏，数字偏乐观
仅用于安排复核排序</a:t>
            </a:r>
          </a:p>
        </p:txBody>
      </p:sp>
      <p:sp>
        <p:nvSpPr>
          <p:cNvPr id="100020" name="Next"/>
          <p:cNvSpPr/>
          <p:nvPr/>
        </p:nvSpPr>
        <p:spPr>
          <a:xfrm xmlns:a="http://schemas.openxmlformats.org/drawingml/2006/main">
            <a:off x="8208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2100" b="1">
                <a:solidFill>
                  <a:srgbClr val="173F5F"/>
                </a:solidFill>
                <a:latin typeface="Microsoft YaHei"/>
                <a:ea typeface="Microsoft YaHei"/>
              </a:rPr>
              <a:t>下一项最小检查</a:t>
            </a:r>
          </a:p>
          <a:p xmlns:a="http://schemas.openxmlformats.org/drawingml/2006/main">
            <a:pPr algn="ctr"/>
            <a:r>
              <a:rPr lang="zh-CN" sz="2100" b="1">
                <a:solidFill>
                  <a:srgbClr val="173F5F"/>
                </a:solidFill>
                <a:latin typeface="Microsoft YaHei"/>
                <a:ea typeface="Microsoft YaHei"/>
              </a:rPr>
              <a:t>查看 runs/cnn-errors.png 归纳漏检共性
（亮度 / 裂缝粗细 / 对比度）
再考虑针对性数据增强</a:t>
            </a:r>
          </a:p>
        </p:txBody>
      </p:sp>
      <p:sp>
        <p:nvSpPr>
          <p:cNvPr id="100021" name="EndMeta"/>
          <p:cNvSpPr txBox="1"/>
          <p:nvPr/>
        </p:nvSpPr>
        <p:spPr>
          <a:xfrm xmlns:a="http://schemas.openxmlformats.org/drawingml/2006/main">
            <a:off x="720000" y="4680000"/>
            <a:ext cx="107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/>
          </a:bodyPr>
          <a:lstStyle xmlns:a="http://schemas.openxmlformats.org/drawingml/2006/main"/>
          <a:p xmlns:a="http://schemas.openxmlformats.org/drawingml/2006/main">
            <a:pPr algn="ctr"/>
            <a:r>
              <a:rPr lang="zh-CN" sz="1900" b="1">
                <a:solidFill>
                  <a:srgbClr val="D6F5EE"/>
                </a:solidFill>
                <a:latin typeface="Microsoft YaHei"/>
                <a:ea typeface="Microsoft YaHei"/>
              </a:rPr>
              <a:t>准备回答：代码追踪 · 指标 · 失败 · 智能体贡献 · 小变化预测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2026-08-11T15:34:49Z</dcterms:created>
  <cp:lastModifiedBy>OfficeCLI</cp:lastModifiedBy>
  <dcterms:modified xsi:type="dcterms:W3CDTF">2026-08-11T15:34:49Z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2026-08-11T15:35:06Z</vt:lpwstr>
  </op:property>
</op:Properties>
</file>